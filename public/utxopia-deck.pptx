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app.utxopia.com" TargetMode="External"/><Relationship Id="rId2" Type="http://schemas.openxmlformats.org/officeDocument/2006/relationships/hyperlink" Target="https://github.com/UTXOpia" TargetMode="External"/><Relationship Id="rId3" Type="http://schemas.openxmlformats.org/officeDocument/2006/relationships/hyperlink" Target="mailto:albert@utxopia.com" TargetMode="External"/><Relationship Id="rId4" Type="http://schemas.openxmlformats.org/officeDocument/2006/relationships/hyperlink" Target="https://t.me/amidoggy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9164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1F0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UTXOpia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566928" y="26974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793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Put idle bitcoin to work without giving it up.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66928" y="3383280"/>
            <a:ext cx="928116" cy="384048"/>
          </a:xfrm>
          <a:prstGeom prst="roundRect">
            <a:avLst>
              <a:gd name="adj" fmla="val 119048"/>
            </a:avLst>
          </a:prstGeom>
          <a:solidFill>
            <a:srgbClr val="F7931A">
              <a:alpha val="8000"/>
            </a:srgbClr>
          </a:solidFill>
          <a:ln w="12700">
            <a:solidFill>
              <a:srgbClr val="F7931A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3383280"/>
            <a:ext cx="9281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93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Private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641348" y="3383280"/>
            <a:ext cx="1394460" cy="384048"/>
          </a:xfrm>
          <a:prstGeom prst="roundRect">
            <a:avLst>
              <a:gd name="adj" fmla="val 119048"/>
            </a:avLst>
          </a:prstGeom>
          <a:solidFill>
            <a:srgbClr val="F7931A">
              <a:alpha val="8000"/>
            </a:srgbClr>
          </a:solidFill>
          <a:ln w="12700">
            <a:solidFill>
              <a:srgbClr val="F7931A">
                <a:alpha val="4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1348" y="3383280"/>
            <a:ext cx="13944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93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Non-custodial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82112" y="3383280"/>
            <a:ext cx="1316736" cy="384048"/>
          </a:xfrm>
          <a:prstGeom prst="roundRect">
            <a:avLst>
              <a:gd name="adj" fmla="val 119048"/>
            </a:avLst>
          </a:prstGeom>
          <a:solidFill>
            <a:srgbClr val="F7931A">
              <a:alpha val="8000"/>
            </a:srgbClr>
          </a:solidFill>
          <a:ln w="12700">
            <a:solidFill>
              <a:srgbClr val="F7931A">
                <a:alpha val="4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82112" y="3383280"/>
            <a:ext cx="13167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93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Programmable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" y="4206240"/>
            <a:ext cx="6583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i="1" dirty="0">
                <a:solidFill>
                  <a:srgbClr val="C7C5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Shield bitcoin into a private vault on Solana. Hold it privately, move it privately, deploy it anywhere and withdraw on your own, even if we're gone.</a:t>
            </a:r>
            <a:endParaRPr lang="en-US" sz="1200" dirty="0"/>
          </a:p>
        </p:txBody>
      </p:sp>
      <p:pic>
        <p:nvPicPr>
          <p:cNvPr id="11" name="Image 0" descr="public/brand/logo-transparent-10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737360"/>
            <a:ext cx="2926080" cy="29260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161727" y="635508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A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UTXOpia · 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793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1F0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bitcoin sits idle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9686239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C5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path to making bitcoin productive asks the holder to give something up first.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920240"/>
            <a:ext cx="3551834" cy="3977640"/>
          </a:xfrm>
          <a:prstGeom prst="roundRect">
            <a:avLst>
              <a:gd name="adj" fmla="val 2060"/>
            </a:avLst>
          </a:prstGeom>
          <a:solidFill>
            <a:srgbClr val="16161B"/>
          </a:solidFill>
          <a:ln w="12700">
            <a:solidFill>
              <a:srgbClr val="2C2C3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157984"/>
            <a:ext cx="310896" cy="310896"/>
          </a:xfrm>
          <a:prstGeom prst="roundRect">
            <a:avLst>
              <a:gd name="adj" fmla="val 147059"/>
            </a:avLst>
          </a:prstGeom>
          <a:solidFill>
            <a:srgbClr val="F7931A">
              <a:alpha val="18000"/>
            </a:srgbClr>
          </a:solidFill>
          <a:ln w="9525">
            <a:solidFill>
              <a:srgbClr val="F7931A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2633472"/>
            <a:ext cx="307634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1F0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Give up your keys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" y="2944368"/>
            <a:ext cx="3076346" cy="27157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B8A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Custodians and CeFi lenders take custody first. The history of that trade is a list of names that no longer exist.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19930" y="1920240"/>
            <a:ext cx="3551834" cy="3977640"/>
          </a:xfrm>
          <a:prstGeom prst="roundRect">
            <a:avLst>
              <a:gd name="adj" fmla="val 2060"/>
            </a:avLst>
          </a:prstGeom>
          <a:solidFill>
            <a:srgbClr val="16161B"/>
          </a:solidFill>
          <a:ln w="12700">
            <a:solidFill>
              <a:srgbClr val="2C2C3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57674" y="2157984"/>
            <a:ext cx="310896" cy="310896"/>
          </a:xfrm>
          <a:prstGeom prst="roundRect">
            <a:avLst>
              <a:gd name="adj" fmla="val 147059"/>
            </a:avLst>
          </a:prstGeom>
          <a:solidFill>
            <a:srgbClr val="F7931A">
              <a:alpha val="18000"/>
            </a:srgbClr>
          </a:solidFill>
          <a:ln w="9525">
            <a:solidFill>
              <a:srgbClr val="F7931A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57674" y="2633472"/>
            <a:ext cx="307634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1F0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Give up to a multisig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57674" y="2944368"/>
            <a:ext cx="3076346" cy="27157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B8A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Wrapped BTC rests on a bridge multisig — an m-of-n club of signers you must simply hope stays honest.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072933" y="1920240"/>
            <a:ext cx="3551834" cy="3977640"/>
          </a:xfrm>
          <a:prstGeom prst="roundRect">
            <a:avLst>
              <a:gd name="adj" fmla="val 2060"/>
            </a:avLst>
          </a:prstGeom>
          <a:solidFill>
            <a:srgbClr val="16161B"/>
          </a:solidFill>
          <a:ln w="12700">
            <a:solidFill>
              <a:srgbClr val="2C2C3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10677" y="2157984"/>
            <a:ext cx="310896" cy="310896"/>
          </a:xfrm>
          <a:prstGeom prst="roundRect">
            <a:avLst>
              <a:gd name="adj" fmla="val 147059"/>
            </a:avLst>
          </a:prstGeom>
          <a:solidFill>
            <a:srgbClr val="F7931A">
              <a:alpha val="18000"/>
            </a:srgbClr>
          </a:solidFill>
          <a:ln w="9525">
            <a:solidFill>
              <a:srgbClr val="F7931A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10677" y="2633472"/>
            <a:ext cx="307634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1F0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Give up your privacy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10677" y="2944368"/>
            <a:ext cx="3076346" cy="27157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B8A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 addresses publish every position: your size, your timing, your counterparties — linked and traceable forever.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6928" y="6144768"/>
            <a:ext cx="9594799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i="1" dirty="0">
                <a:solidFill>
                  <a:srgbClr val="F793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the largest pool of capital in crypto mostly does nothing.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161727" y="635508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A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UTXOpia · 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793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1F0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on-ramp that asks for neither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2531288" cy="1417320"/>
          </a:xfrm>
          <a:prstGeom prst="roundRect">
            <a:avLst>
              <a:gd name="adj" fmla="val 5161"/>
            </a:avLst>
          </a:prstGeom>
          <a:solidFill>
            <a:srgbClr val="16161B"/>
          </a:solidFill>
          <a:ln w="12700">
            <a:solidFill>
              <a:srgbClr val="2C2C3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700784"/>
            <a:ext cx="2092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0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Bitcoin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86384" y="2048256"/>
            <a:ext cx="2092376" cy="6309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B8A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Native BTC, your keys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098216" y="1481328"/>
            <a:ext cx="31089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793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09112" y="1481328"/>
            <a:ext cx="2531288" cy="1417320"/>
          </a:xfrm>
          <a:prstGeom prst="roundRect">
            <a:avLst>
              <a:gd name="adj" fmla="val 5161"/>
            </a:avLst>
          </a:prstGeom>
          <a:solidFill>
            <a:srgbClr val="16161B"/>
          </a:solidFill>
          <a:ln w="12700">
            <a:solidFill>
              <a:srgbClr val="2C2C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28568" y="1700784"/>
            <a:ext cx="2092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0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SPV proof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28568" y="2048256"/>
            <a:ext cx="2092376" cy="6309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B8A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Chain proof — no trusted bridge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0400" y="1481328"/>
            <a:ext cx="31089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793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51296" y="1481328"/>
            <a:ext cx="2531288" cy="1417320"/>
          </a:xfrm>
          <a:prstGeom prst="roundRect">
            <a:avLst>
              <a:gd name="adj" fmla="val 5161"/>
            </a:avLst>
          </a:prstGeom>
          <a:solidFill>
            <a:srgbClr val="F7931A">
              <a:alpha val="6000"/>
            </a:srgbClr>
          </a:solidFill>
          <a:ln w="12700">
            <a:solidFill>
              <a:srgbClr val="F7931A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0752" y="1700784"/>
            <a:ext cx="2092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93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Shielded vault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70752" y="2048256"/>
            <a:ext cx="2092376" cy="6309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B8A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Private note on Solana, Ika-secured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82583" y="1481328"/>
            <a:ext cx="31089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793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093479" y="1481328"/>
            <a:ext cx="2531288" cy="1417320"/>
          </a:xfrm>
          <a:prstGeom prst="roundRect">
            <a:avLst>
              <a:gd name="adj" fmla="val 5161"/>
            </a:avLst>
          </a:prstGeom>
          <a:solidFill>
            <a:srgbClr val="16161B"/>
          </a:solidFill>
          <a:ln w="12700">
            <a:solidFill>
              <a:srgbClr val="2C2C3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12935" y="1700784"/>
            <a:ext cx="2092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0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SPL token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312935" y="2048256"/>
            <a:ext cx="2092376" cy="6309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B8A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 anywhere on Solana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6928" y="3099816"/>
            <a:ext cx="11057839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7C5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back: exit to native bitcoin on your own — your proof, your registered destination, no UTXOpia servers required.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" y="3712464"/>
            <a:ext cx="11057839" cy="2185416"/>
          </a:xfrm>
          <a:prstGeom prst="roundRect">
            <a:avLst>
              <a:gd name="adj" fmla="val 3347"/>
            </a:avLst>
          </a:prstGeom>
          <a:solidFill>
            <a:srgbClr val="16161B"/>
          </a:solidFill>
          <a:ln w="12700">
            <a:solidFill>
              <a:srgbClr val="2C2C3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3950208"/>
            <a:ext cx="10582351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1F0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Inside the vault, bitcoin is a private note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04672" y="4261104"/>
            <a:ext cx="10582351" cy="13990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B8A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Holdings and transfers are cryptographic commitments — amounts, senders, and recipients stay hidden while your capital stays deployable.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66928" y="6144768"/>
            <a:ext cx="9594799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i="1" dirty="0">
                <a:solidFill>
                  <a:srgbClr val="F793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Bitcoin-native capital, live on a high-performance chain — still yours, still private.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161727" y="635508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A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UTXOpia · 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793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PILLAR 1 — SELF-CUSTODIAL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1F0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Securing the vault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3551834" cy="4416552"/>
          </a:xfrm>
          <a:prstGeom prst="roundRect">
            <a:avLst>
              <a:gd name="adj" fmla="val 2060"/>
            </a:avLst>
          </a:prstGeom>
          <a:solidFill>
            <a:srgbClr val="16161B"/>
          </a:solidFill>
          <a:ln w="12700">
            <a:solidFill>
              <a:srgbClr val="2C2C3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19072"/>
            <a:ext cx="310896" cy="310896"/>
          </a:xfrm>
          <a:prstGeom prst="roundRect">
            <a:avLst>
              <a:gd name="adj" fmla="val 147059"/>
            </a:avLst>
          </a:prstGeom>
          <a:solidFill>
            <a:srgbClr val="F7931A">
              <a:alpha val="18000"/>
            </a:srgbClr>
          </a:solidFill>
          <a:ln w="9525">
            <a:solidFill>
              <a:srgbClr val="F7931A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194560"/>
            <a:ext cx="307634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1F0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Ika 2PC-MPC dWallet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2505456"/>
            <a:ext cx="3076346" cy="3154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B8A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vault's BTC is held by a dWallet on the Ika threshold network. Every signature requires two shares — the user's and the network's. Neither side can ever sign alone: the user is one of the signers, in the math itself.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19930" y="1481328"/>
            <a:ext cx="3551834" cy="4416552"/>
          </a:xfrm>
          <a:prstGeom prst="roundRect">
            <a:avLst>
              <a:gd name="adj" fmla="val 2060"/>
            </a:avLst>
          </a:prstGeom>
          <a:solidFill>
            <a:srgbClr val="16161B"/>
          </a:solidFill>
          <a:ln w="12700">
            <a:solidFill>
              <a:srgbClr val="2C2C3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57674" y="1719072"/>
            <a:ext cx="310896" cy="310896"/>
          </a:xfrm>
          <a:prstGeom prst="roundRect">
            <a:avLst>
              <a:gd name="adj" fmla="val 147059"/>
            </a:avLst>
          </a:prstGeom>
          <a:solidFill>
            <a:srgbClr val="F7931A">
              <a:alpha val="18000"/>
            </a:srgbClr>
          </a:solidFill>
          <a:ln w="9525">
            <a:solidFill>
              <a:srgbClr val="F7931A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7674" y="2194560"/>
            <a:ext cx="307634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1F0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bridge multisig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57674" y="2505456"/>
            <a:ext cx="3076346" cy="3154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B8A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Bitcoin enters by SPV proof — no m-of-n club of signers to trust or compromise. The security assumption is removed, not shrunk.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072933" y="1481328"/>
            <a:ext cx="3551834" cy="4416552"/>
          </a:xfrm>
          <a:prstGeom prst="roundRect">
            <a:avLst>
              <a:gd name="adj" fmla="val 2060"/>
            </a:avLst>
          </a:prstGeom>
          <a:solidFill>
            <a:srgbClr val="16161B"/>
          </a:solidFill>
          <a:ln w="12700">
            <a:solidFill>
              <a:srgbClr val="2C2C3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10677" y="1719072"/>
            <a:ext cx="310896" cy="310896"/>
          </a:xfrm>
          <a:prstGeom prst="roundRect">
            <a:avLst>
              <a:gd name="adj" fmla="val 147059"/>
            </a:avLst>
          </a:prstGeom>
          <a:solidFill>
            <a:srgbClr val="F7931A">
              <a:alpha val="18000"/>
            </a:srgbClr>
          </a:solidFill>
          <a:ln w="9525">
            <a:solidFill>
              <a:srgbClr val="F7931A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10677" y="2194560"/>
            <a:ext cx="307634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1F0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Exits no one can block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10677" y="2505456"/>
            <a:ext cx="3076346" cy="3154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B8A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exit is authorised by the user's own proof plus a destination registered at admission. Redeem ignores auditor_frozen (redeem.rs:275), and a registered exit destination can never be removed.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66928" y="6144768"/>
            <a:ext cx="9594799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i="1" dirty="0">
                <a:solidFill>
                  <a:srgbClr val="F793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Custody never leaves the user — even our own freeze flag cannot trap funds.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161727" y="635508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A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UTXOpia · 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793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PILLAR 2 — PRIVATE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1F0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Private while it's yours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3551834" cy="3438144"/>
          </a:xfrm>
          <a:prstGeom prst="roundRect">
            <a:avLst>
              <a:gd name="adj" fmla="val 2128"/>
            </a:avLst>
          </a:prstGeom>
          <a:solidFill>
            <a:srgbClr val="16161B"/>
          </a:solidFill>
          <a:ln w="12700">
            <a:solidFill>
              <a:srgbClr val="2C2C3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19072"/>
            <a:ext cx="310896" cy="310896"/>
          </a:xfrm>
          <a:prstGeom prst="roundRect">
            <a:avLst>
              <a:gd name="adj" fmla="val 147059"/>
            </a:avLst>
          </a:prstGeom>
          <a:solidFill>
            <a:srgbClr val="A674FF">
              <a:alpha val="18000"/>
            </a:srgbClr>
          </a:solidFill>
          <a:ln w="9525">
            <a:solidFill>
              <a:srgbClr val="A674FF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194560"/>
            <a:ext cx="307634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1F0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Groth16 JoinSplit proofs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2505456"/>
            <a:ext cx="3076346" cy="21762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B8A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transfer inside the vault is a zero-knowledge proof: nullifiers in, commitments out. The chain verifies correctness without learning anything else.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19930" y="1481328"/>
            <a:ext cx="3551834" cy="3438144"/>
          </a:xfrm>
          <a:prstGeom prst="roundRect">
            <a:avLst>
              <a:gd name="adj" fmla="val 2128"/>
            </a:avLst>
          </a:prstGeom>
          <a:solidFill>
            <a:srgbClr val="16161B"/>
          </a:solidFill>
          <a:ln w="12700">
            <a:solidFill>
              <a:srgbClr val="2C2C3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57674" y="1719072"/>
            <a:ext cx="310896" cy="310896"/>
          </a:xfrm>
          <a:prstGeom prst="roundRect">
            <a:avLst>
              <a:gd name="adj" fmla="val 147059"/>
            </a:avLst>
          </a:prstGeom>
          <a:solidFill>
            <a:srgbClr val="A674FF">
              <a:alpha val="18000"/>
            </a:srgbClr>
          </a:solidFill>
          <a:ln w="9525">
            <a:solidFill>
              <a:srgbClr val="A674FF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7674" y="2194560"/>
            <a:ext cx="307634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1F0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Nothing to link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57674" y="2505456"/>
            <a:ext cx="3076346" cy="21762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B8A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amounts, no sender, no recipient on chain. Your BTC size, your entry timing, and your internal moves stay yours — a needle with no haystack coordinates.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072933" y="1481328"/>
            <a:ext cx="3551834" cy="3438144"/>
          </a:xfrm>
          <a:prstGeom prst="roundRect">
            <a:avLst>
              <a:gd name="adj" fmla="val 2128"/>
            </a:avLst>
          </a:prstGeom>
          <a:solidFill>
            <a:srgbClr val="16161B"/>
          </a:solidFill>
          <a:ln w="12700">
            <a:solidFill>
              <a:srgbClr val="2C2C3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10677" y="1719072"/>
            <a:ext cx="310896" cy="310896"/>
          </a:xfrm>
          <a:prstGeom prst="roundRect">
            <a:avLst>
              <a:gd name="adj" fmla="val 147059"/>
            </a:avLst>
          </a:prstGeom>
          <a:solidFill>
            <a:srgbClr val="A674FF">
              <a:alpha val="18000"/>
            </a:srgbClr>
          </a:solidFill>
          <a:ln w="9525">
            <a:solidFill>
              <a:srgbClr val="A674FF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10677" y="2194560"/>
            <a:ext cx="307634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1F0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Stealth by default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10677" y="2505456"/>
            <a:ext cx="3076346" cy="21762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B8A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Stealth addresses give recipient privacy on every payment. Privacy is the default state of the vault, not an opt-in feature.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6928" y="5120640"/>
            <a:ext cx="11057839" cy="777240"/>
          </a:xfrm>
          <a:prstGeom prst="roundRect">
            <a:avLst>
              <a:gd name="adj" fmla="val 9412"/>
            </a:avLst>
          </a:prstGeom>
          <a:solidFill>
            <a:srgbClr val="F7931A">
              <a:alpha val="5000"/>
            </a:srgbClr>
          </a:solidFill>
          <a:ln w="12700">
            <a:solidFill>
              <a:srgbClr val="F7931A">
                <a:alpha val="4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120640"/>
            <a:ext cx="10545775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793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honest boundary: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7C5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privacy ends the moment you unshield into a public DeFi position. That's a real line, not a footnote — everything up to that door is protected.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161727" y="635508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A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UTXOpia · 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793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PILLAR 3 — PROGRAMMABLE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1F0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 engine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5428336" cy="2107692"/>
          </a:xfrm>
          <a:prstGeom prst="roundRect">
            <a:avLst>
              <a:gd name="adj" fmla="val 3471"/>
            </a:avLst>
          </a:prstGeom>
          <a:solidFill>
            <a:srgbClr val="16161B"/>
          </a:solidFill>
          <a:ln w="12700">
            <a:solidFill>
              <a:srgbClr val="2C2C3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19072"/>
            <a:ext cx="310896" cy="310896"/>
          </a:xfrm>
          <a:prstGeom prst="roundRect">
            <a:avLst>
              <a:gd name="adj" fmla="val 147059"/>
            </a:avLst>
          </a:prstGeom>
          <a:solidFill>
            <a:srgbClr val="F7931A">
              <a:alpha val="18000"/>
            </a:srgbClr>
          </a:solidFill>
          <a:ln w="9525">
            <a:solidFill>
              <a:srgbClr val="F7931A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194560"/>
            <a:ext cx="495284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1F0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program, not an operator switch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2505456"/>
            <a:ext cx="4952848" cy="8458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B8A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 lives in a separate on-chain program. Approvals are per-action, single-use, and slot-expiring — no admin can wave a transaction through.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96432" y="1481328"/>
            <a:ext cx="5428336" cy="2107692"/>
          </a:xfrm>
          <a:prstGeom prst="roundRect">
            <a:avLst>
              <a:gd name="adj" fmla="val 3471"/>
            </a:avLst>
          </a:prstGeom>
          <a:solidFill>
            <a:srgbClr val="16161B"/>
          </a:solidFill>
          <a:ln w="12700">
            <a:solidFill>
              <a:srgbClr val="2C2C3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34176" y="1719072"/>
            <a:ext cx="310896" cy="310896"/>
          </a:xfrm>
          <a:prstGeom prst="roundRect">
            <a:avLst>
              <a:gd name="adj" fmla="val 147059"/>
            </a:avLst>
          </a:prstGeom>
          <a:solidFill>
            <a:srgbClr val="F7931A">
              <a:alpha val="18000"/>
            </a:srgbClr>
          </a:solidFill>
          <a:ln w="9525">
            <a:solidFill>
              <a:srgbClr val="F7931A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34176" y="2194560"/>
            <a:ext cx="495284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1F0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Private decisions on MagicBlock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34176" y="2505456"/>
            <a:ext cx="4952848" cy="8458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B8A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Approvals are decided inside an ephemeral rollup — off the public ledger, at millisecond speed — then committed to Solana before any asset instruction can consume one.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" y="3790188"/>
            <a:ext cx="5428336" cy="2107692"/>
          </a:xfrm>
          <a:prstGeom prst="roundRect">
            <a:avLst>
              <a:gd name="adj" fmla="val 3471"/>
            </a:avLst>
          </a:prstGeom>
          <a:solidFill>
            <a:srgbClr val="16161B"/>
          </a:solidFill>
          <a:ln w="12700">
            <a:solidFill>
              <a:srgbClr val="2C2C3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" y="4027932"/>
            <a:ext cx="310896" cy="310896"/>
          </a:xfrm>
          <a:prstGeom prst="roundRect">
            <a:avLst>
              <a:gd name="adj" fmla="val 147059"/>
            </a:avLst>
          </a:prstGeom>
          <a:solidFill>
            <a:srgbClr val="F7931A">
              <a:alpha val="18000"/>
            </a:srgbClr>
          </a:solidFill>
          <a:ln w="9525">
            <a:solidFill>
              <a:srgbClr val="F7931A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4503420"/>
            <a:ext cx="495284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1F0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Institution-grade controls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04672" y="4814316"/>
            <a:ext cx="4952848" cy="8458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B8A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Per-token caps, timelocked admin updates so no rule changes silently, and allowlisting of BTC sources at the vault door.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96432" y="3790188"/>
            <a:ext cx="5428336" cy="2107692"/>
          </a:xfrm>
          <a:prstGeom prst="roundRect">
            <a:avLst>
              <a:gd name="adj" fmla="val 3471"/>
            </a:avLst>
          </a:prstGeom>
          <a:solidFill>
            <a:srgbClr val="16161B"/>
          </a:solidFill>
          <a:ln w="12700">
            <a:solidFill>
              <a:srgbClr val="2C2C3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34176" y="4027932"/>
            <a:ext cx="310896" cy="310896"/>
          </a:xfrm>
          <a:prstGeom prst="roundRect">
            <a:avLst>
              <a:gd name="adj" fmla="val 147059"/>
            </a:avLst>
          </a:prstGeom>
          <a:solidFill>
            <a:srgbClr val="F7931A">
              <a:alpha val="18000"/>
            </a:srgbClr>
          </a:solidFill>
          <a:ln w="9525">
            <a:solidFill>
              <a:srgbClr val="F7931A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34176" y="4503420"/>
            <a:ext cx="495284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1F0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Selective disclosure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34176" y="4814316"/>
            <a:ext cx="4952848" cy="8458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B8A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viewing key plus per-transaction proofs show an auditor exactly what the user chooses — with a record of what was shown.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66928" y="6144768"/>
            <a:ext cx="9594799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i="1" dirty="0">
                <a:solidFill>
                  <a:srgbClr val="F793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Idle BTC is idle because the desk holding it can't get sign-off. This is the layer that answers that.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161727" y="635508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A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UTXOpia · 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793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ANONYMITY SETS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1F0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Permissionless &amp; verified pools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5428336" cy="4416552"/>
          </a:xfrm>
          <a:prstGeom prst="roundRect">
            <a:avLst>
              <a:gd name="adj" fmla="val 1656"/>
            </a:avLst>
          </a:prstGeom>
          <a:solidFill>
            <a:srgbClr val="16161B"/>
          </a:solidFill>
          <a:ln w="12700">
            <a:solidFill>
              <a:srgbClr val="2C2C3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19072"/>
            <a:ext cx="310896" cy="310896"/>
          </a:xfrm>
          <a:prstGeom prst="roundRect">
            <a:avLst>
              <a:gd name="adj" fmla="val 147059"/>
            </a:avLst>
          </a:prstGeom>
          <a:solidFill>
            <a:srgbClr val="F7931A">
              <a:alpha val="18000"/>
            </a:srgbClr>
          </a:solidFill>
          <a:ln w="9525">
            <a:solidFill>
              <a:srgbClr val="F7931A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194560"/>
            <a:ext cx="495284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1F0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Permissionless pool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2505456"/>
            <a:ext cx="4952848" cy="25877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B8A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to anyone with bitcoin and an SPV proof. No gatekeeper, no screening — the censorship-resistant heart of the system, and it will always exist.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4672" y="5093208"/>
            <a:ext cx="4952848" cy="566928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793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shielded privacy: hidden amounts, senders, and recipients.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196432" y="1481328"/>
            <a:ext cx="5428336" cy="4416552"/>
          </a:xfrm>
          <a:prstGeom prst="roundRect">
            <a:avLst>
              <a:gd name="adj" fmla="val 1656"/>
            </a:avLst>
          </a:prstGeom>
          <a:solidFill>
            <a:srgbClr val="16161B"/>
          </a:solidFill>
          <a:ln w="12700">
            <a:solidFill>
              <a:srgbClr val="2C2C3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34176" y="1719072"/>
            <a:ext cx="310896" cy="310896"/>
          </a:xfrm>
          <a:prstGeom prst="roundRect">
            <a:avLst>
              <a:gd name="adj" fmla="val 147059"/>
            </a:avLst>
          </a:prstGeom>
          <a:solidFill>
            <a:srgbClr val="A674FF">
              <a:alpha val="18000"/>
            </a:srgbClr>
          </a:solidFill>
          <a:ln w="9525">
            <a:solidFill>
              <a:srgbClr val="A674FF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34176" y="2194560"/>
            <a:ext cx="495284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1F0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 pool, audit-ready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34176" y="2505456"/>
            <a:ext cx="4952848" cy="25877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B8A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cryptography, different admission rule: deposits and participants pass screening and attestation before entry.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34176" y="5093208"/>
            <a:ext cx="4952848" cy="566928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A67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Institutions mix only with verified funds — an anonymity set their auditors can reason about and sign off on.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" y="6144768"/>
            <a:ext cx="9594799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i="1" dirty="0">
                <a:solidFill>
                  <a:srgbClr val="F793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proofs, different door — neither pool weakens the other.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161727" y="635508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A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UTXOpia · 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793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1F0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Milestones that can't be faked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994410"/>
          </a:xfrm>
          <a:prstGeom prst="roundRect">
            <a:avLst>
              <a:gd name="adj" fmla="val 7356"/>
            </a:avLst>
          </a:prstGeom>
          <a:solidFill>
            <a:srgbClr val="16161B"/>
          </a:solidFill>
          <a:ln w="12700">
            <a:solidFill>
              <a:srgbClr val="2C2C3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804797"/>
            <a:ext cx="347472" cy="347472"/>
          </a:xfrm>
          <a:prstGeom prst="ellipse">
            <a:avLst/>
          </a:prstGeom>
          <a:solidFill>
            <a:srgbClr val="F7931A">
              <a:alpha val="12000"/>
            </a:srgbClr>
          </a:solidFill>
          <a:ln w="12700">
            <a:solidFill>
              <a:srgbClr val="F7931A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804797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793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44168" y="1682496"/>
            <a:ext cx="1005199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0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 flow is live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44168" y="1956816"/>
            <a:ext cx="10051999" cy="336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8B8A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Shield, private transfer, and unshield working today — in product, not on a roadmap.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66928" y="2622042"/>
            <a:ext cx="11057839" cy="994410"/>
          </a:xfrm>
          <a:prstGeom prst="roundRect">
            <a:avLst>
              <a:gd name="adj" fmla="val 7356"/>
            </a:avLst>
          </a:prstGeom>
          <a:solidFill>
            <a:srgbClr val="16161B"/>
          </a:solidFill>
          <a:ln w="12700">
            <a:solidFill>
              <a:srgbClr val="2C2C3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" y="2945511"/>
            <a:ext cx="347472" cy="347472"/>
          </a:xfrm>
          <a:prstGeom prst="ellipse">
            <a:avLst/>
          </a:prstGeom>
          <a:solidFill>
            <a:srgbClr val="F7931A">
              <a:alpha val="12000"/>
            </a:srgbClr>
          </a:solidFill>
          <a:ln w="12700">
            <a:solidFill>
              <a:srgbClr val="F7931A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2945511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793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44168" y="2823210"/>
            <a:ext cx="1005199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0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2026-08-04 — backend off, exit still works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44168" y="3097530"/>
            <a:ext cx="10051999" cy="336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8B8A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switched our own backend off; a member's bitcoin still left the vault. 46,803 sats, twice — second run from scratch.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6928" y="3762756"/>
            <a:ext cx="11057839" cy="994410"/>
          </a:xfrm>
          <a:prstGeom prst="roundRect">
            <a:avLst>
              <a:gd name="adj" fmla="val 7356"/>
            </a:avLst>
          </a:prstGeom>
          <a:solidFill>
            <a:srgbClr val="16161B"/>
          </a:solidFill>
          <a:ln w="12700">
            <a:solidFill>
              <a:srgbClr val="2C2C3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" y="4086225"/>
            <a:ext cx="347472" cy="347472"/>
          </a:xfrm>
          <a:prstGeom prst="ellipse">
            <a:avLst/>
          </a:prstGeom>
          <a:solidFill>
            <a:srgbClr val="F7931A">
              <a:alpha val="12000"/>
            </a:srgbClr>
          </a:solidFill>
          <a:ln w="12700">
            <a:solidFill>
              <a:srgbClr val="F7931A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4086225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793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44168" y="3963924"/>
            <a:ext cx="1005199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0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Zero-infrastructure verification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44168" y="4238244"/>
            <a:ext cx="10051999" cy="336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8B8A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leaf set rebuilds from chain data alone — verifying and exiting needs nothing that runs on our servers.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6928" y="4903470"/>
            <a:ext cx="11057839" cy="994410"/>
          </a:xfrm>
          <a:prstGeom prst="roundRect">
            <a:avLst>
              <a:gd name="adj" fmla="val 7356"/>
            </a:avLst>
          </a:prstGeom>
          <a:solidFill>
            <a:srgbClr val="16161B"/>
          </a:solidFill>
          <a:ln w="12700">
            <a:solidFill>
              <a:srgbClr val="2C2C3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" y="5226939"/>
            <a:ext cx="347472" cy="347472"/>
          </a:xfrm>
          <a:prstGeom prst="ellipse">
            <a:avLst/>
          </a:prstGeom>
          <a:solidFill>
            <a:srgbClr val="F7931A">
              <a:alpha val="12000"/>
            </a:srgbClr>
          </a:solidFill>
          <a:ln w="12700">
            <a:solidFill>
              <a:srgbClr val="F7931A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5226939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793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344168" y="5104638"/>
            <a:ext cx="1005199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0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Ika vault + MagicBlock policy engine integrated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44168" y="5378958"/>
            <a:ext cx="10051999" cy="336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8B8A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Trustless BTC custody and private policy approvals are live in the flow you'll see in the demo.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66928" y="6144768"/>
            <a:ext cx="9594799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i="1" dirty="0">
                <a:solidFill>
                  <a:srgbClr val="F793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already survives its own creators disappearing.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161727" y="635508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A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UTXOpia · 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793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1F0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capital that refuses the tradeoff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5428336" cy="2107692"/>
          </a:xfrm>
          <a:prstGeom prst="roundRect">
            <a:avLst>
              <a:gd name="adj" fmla="val 3471"/>
            </a:avLst>
          </a:prstGeom>
          <a:solidFill>
            <a:srgbClr val="16161B"/>
          </a:solidFill>
          <a:ln w="12700">
            <a:solidFill>
              <a:srgbClr val="2C2C3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19072"/>
            <a:ext cx="310896" cy="310896"/>
          </a:xfrm>
          <a:prstGeom prst="roundRect">
            <a:avLst>
              <a:gd name="adj" fmla="val 147059"/>
            </a:avLst>
          </a:prstGeom>
          <a:solidFill>
            <a:srgbClr val="F7931A">
              <a:alpha val="18000"/>
            </a:srgbClr>
          </a:solidFill>
          <a:ln w="9525">
            <a:solidFill>
              <a:srgbClr val="F7931A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194560"/>
            <a:ext cx="495284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1F0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Bitcoin holders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2505456"/>
            <a:ext cx="4952848" cy="8458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B8A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Long-term capital that wants into DeFi without a public confession of its size — or a custodian holding its keys.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96432" y="1481328"/>
            <a:ext cx="5428336" cy="2107692"/>
          </a:xfrm>
          <a:prstGeom prst="roundRect">
            <a:avLst>
              <a:gd name="adj" fmla="val 3471"/>
            </a:avLst>
          </a:prstGeom>
          <a:solidFill>
            <a:srgbClr val="16161B"/>
          </a:solidFill>
          <a:ln w="12700">
            <a:solidFill>
              <a:srgbClr val="2C2C3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34176" y="1719072"/>
            <a:ext cx="310896" cy="310896"/>
          </a:xfrm>
          <a:prstGeom prst="roundRect">
            <a:avLst>
              <a:gd name="adj" fmla="val 147059"/>
            </a:avLst>
          </a:prstGeom>
          <a:solidFill>
            <a:srgbClr val="F7931A">
              <a:alpha val="18000"/>
            </a:srgbClr>
          </a:solidFill>
          <a:ln w="9525">
            <a:solidFill>
              <a:srgbClr val="F7931A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34176" y="2194560"/>
            <a:ext cx="495284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1F0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Crypto-native users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34176" y="2505456"/>
            <a:ext cx="4952848" cy="8458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B8A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 on-chain activity without surveillance — private balances and transfers as the default, not the exception.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" y="3790188"/>
            <a:ext cx="5428336" cy="2107692"/>
          </a:xfrm>
          <a:prstGeom prst="roundRect">
            <a:avLst>
              <a:gd name="adj" fmla="val 3471"/>
            </a:avLst>
          </a:prstGeom>
          <a:solidFill>
            <a:srgbClr val="16161B"/>
          </a:solidFill>
          <a:ln w="12700">
            <a:solidFill>
              <a:srgbClr val="2C2C3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" y="4027932"/>
            <a:ext cx="310896" cy="310896"/>
          </a:xfrm>
          <a:prstGeom prst="roundRect">
            <a:avLst>
              <a:gd name="adj" fmla="val 147059"/>
            </a:avLst>
          </a:prstGeom>
          <a:solidFill>
            <a:srgbClr val="F7931A">
              <a:alpha val="18000"/>
            </a:srgbClr>
          </a:solidFill>
          <a:ln w="9525">
            <a:solidFill>
              <a:srgbClr val="F7931A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4503420"/>
            <a:ext cx="495284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1F0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Funds &amp; desks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04672" y="4814316"/>
            <a:ext cx="4952848" cy="8458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B8A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positions with audit-ready disclosure — the sign-off story that finally puts idle treasury BTC to work.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96432" y="3790188"/>
            <a:ext cx="5428336" cy="2107692"/>
          </a:xfrm>
          <a:prstGeom prst="roundRect">
            <a:avLst>
              <a:gd name="adj" fmla="val 3471"/>
            </a:avLst>
          </a:prstGeom>
          <a:solidFill>
            <a:srgbClr val="16161B"/>
          </a:solidFill>
          <a:ln w="12700">
            <a:solidFill>
              <a:srgbClr val="2C2C3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34176" y="4027932"/>
            <a:ext cx="310896" cy="310896"/>
          </a:xfrm>
          <a:prstGeom prst="roundRect">
            <a:avLst>
              <a:gd name="adj" fmla="val 147059"/>
            </a:avLst>
          </a:prstGeom>
          <a:solidFill>
            <a:srgbClr val="F7931A">
              <a:alpha val="18000"/>
            </a:srgbClr>
          </a:solidFill>
          <a:ln w="9525">
            <a:solidFill>
              <a:srgbClr val="F7931A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34176" y="4503420"/>
            <a:ext cx="495284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1F0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Privacy-conscious DeFi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34176" y="4814316"/>
            <a:ext cx="4952848" cy="8458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B8A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Participants who refuse full transparency but still need programmable, verifiable finance.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66928" y="6144768"/>
            <a:ext cx="9594799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i="1" dirty="0">
                <a:solidFill>
                  <a:srgbClr val="F793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idle-bitcoin problem is a trust problem — and trust problems are markets.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161727" y="635508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A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UTXOpia · 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793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1F0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private finance layer for bitcoin-native capital across high-performance chains.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2834640"/>
            <a:ext cx="2613584" cy="685800"/>
          </a:xfrm>
          <a:prstGeom prst="roundRect">
            <a:avLst>
              <a:gd name="adj" fmla="val 10667"/>
            </a:avLst>
          </a:prstGeom>
          <a:solidFill>
            <a:srgbClr val="16161B"/>
          </a:solidFill>
          <a:ln w="12700">
            <a:solidFill>
              <a:srgbClr val="2C2C36"/>
            </a:solidFill>
            <a:prstDash val="solid"/>
          </a:ln>
        </p:spPr>
      </p:sp>
      <p:sp>
        <p:nvSpPr>
          <p:cNvPr id="5" name="Text 3">
            <a:hlinkClick r:id="rId1" tooltip=""/>
          </p:cNvPr>
          <p:cNvSpPr/>
          <p:nvPr/>
        </p:nvSpPr>
        <p:spPr>
          <a:xfrm>
            <a:off x="566928" y="2834640"/>
            <a:ext cx="2613584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F7931A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app.utxopia.com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381680" y="2834640"/>
            <a:ext cx="2613584" cy="685800"/>
          </a:xfrm>
          <a:prstGeom prst="roundRect">
            <a:avLst>
              <a:gd name="adj" fmla="val 10667"/>
            </a:avLst>
          </a:prstGeom>
          <a:solidFill>
            <a:srgbClr val="16161B"/>
          </a:solidFill>
          <a:ln w="12700">
            <a:solidFill>
              <a:srgbClr val="2C2C36"/>
            </a:solidFill>
            <a:prstDash val="solid"/>
          </a:ln>
        </p:spPr>
      </p:sp>
      <p:sp>
        <p:nvSpPr>
          <p:cNvPr id="7" name="Text 5">
            <a:hlinkClick r:id="rId2" tooltip=""/>
          </p:cNvPr>
          <p:cNvSpPr/>
          <p:nvPr/>
        </p:nvSpPr>
        <p:spPr>
          <a:xfrm>
            <a:off x="3381680" y="2834640"/>
            <a:ext cx="2613584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F7931A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github.com/UTXOpia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96432" y="2834640"/>
            <a:ext cx="2613584" cy="685800"/>
          </a:xfrm>
          <a:prstGeom prst="roundRect">
            <a:avLst>
              <a:gd name="adj" fmla="val 10667"/>
            </a:avLst>
          </a:prstGeom>
          <a:solidFill>
            <a:srgbClr val="16161B"/>
          </a:solidFill>
          <a:ln w="12700">
            <a:solidFill>
              <a:srgbClr val="2C2C36"/>
            </a:solidFill>
            <a:prstDash val="solid"/>
          </a:ln>
        </p:spPr>
      </p:sp>
      <p:sp>
        <p:nvSpPr>
          <p:cNvPr id="9" name="Text 7">
            <a:hlinkClick r:id="rId3" tooltip=""/>
          </p:cNvPr>
          <p:cNvSpPr/>
          <p:nvPr/>
        </p:nvSpPr>
        <p:spPr>
          <a:xfrm>
            <a:off x="6196432" y="2834640"/>
            <a:ext cx="2613584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F7931A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albert@utxopia.com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011183" y="2834640"/>
            <a:ext cx="2613584" cy="685800"/>
          </a:xfrm>
          <a:prstGeom prst="roundRect">
            <a:avLst>
              <a:gd name="adj" fmla="val 10667"/>
            </a:avLst>
          </a:prstGeom>
          <a:solidFill>
            <a:srgbClr val="16161B"/>
          </a:solidFill>
          <a:ln w="12700">
            <a:solidFill>
              <a:srgbClr val="2C2C36"/>
            </a:solidFill>
            <a:prstDash val="solid"/>
          </a:ln>
        </p:spPr>
      </p:sp>
      <p:sp>
        <p:nvSpPr>
          <p:cNvPr id="11" name="Text 9">
            <a:hlinkClick r:id="rId4" tooltip=""/>
          </p:cNvPr>
          <p:cNvSpPr/>
          <p:nvPr/>
        </p:nvSpPr>
        <p:spPr>
          <a:xfrm>
            <a:off x="9011183" y="2834640"/>
            <a:ext cx="2613584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F7931A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@amidoggy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" y="6144768"/>
            <a:ext cx="9594799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i="1" dirty="0">
                <a:solidFill>
                  <a:srgbClr val="F793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Devnet · public alpha · unaudited. Check every claim before you believe it.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161727" y="635508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A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UTXOpia ·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UTXOpia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UTXOpia — put idle bitcoin to work without giving it up</dc:title>
  <dc:subject>PptxGenJS Presentation</dc:subject>
  <dc:creator>UTXOpia</dc:creator>
  <cp:lastModifiedBy>UTXOpia</cp:lastModifiedBy>
  <cp:revision>1</cp:revision>
  <dcterms:created xsi:type="dcterms:W3CDTF">2026-08-15T14:04:08Z</dcterms:created>
  <dcterms:modified xsi:type="dcterms:W3CDTF">2026-08-15T14:04:08Z</dcterms:modified>
</cp:coreProperties>
</file>